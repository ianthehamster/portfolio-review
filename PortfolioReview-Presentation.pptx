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625b52f98e4be9" /><Relationship Type="http://schemas.openxmlformats.org/officeDocument/2006/relationships/extended-properties" Target="/docProps/app.xml" Id="R73d92cf525b14779" /><Relationship Type="http://schemas.openxmlformats.org/officeDocument/2006/relationships/officeDocument" Target="/ppt/presentation.xml" Id="Rf0ba299217c149e1" /></Relationships>
</file>

<file path=ppt/presentation.xml><?xml version="1.0" encoding="utf-8"?>
<p:presentation xmlns:p="http://schemas.openxmlformats.org/presentationml/2006/main">
  <p:sldMasterIdLst>
    <p:sldMasterId xmlns:r="http://schemas.openxmlformats.org/officeDocument/2006/relationships" id="2147483648" r:id="R93aa4f826c274322"/>
  </p:sldMasterIdLst>
  <p:notesMasterIdLst>
    <p:notesMasterId xmlns:r="http://schemas.openxmlformats.org/officeDocument/2006/relationships" r:id="Rdb5488e857fb4d78"/>
  </p:notesMasterIdLst>
  <p:sldIdLst>
    <p:sldId xmlns:r="http://schemas.openxmlformats.org/officeDocument/2006/relationships" id="256" r:id="Rf94924dff02845d3"/>
    <p:sldId xmlns:r="http://schemas.openxmlformats.org/officeDocument/2006/relationships" id="257" r:id="R7e22aedc1a324f8d"/>
    <p:sldId xmlns:r="http://schemas.openxmlformats.org/officeDocument/2006/relationships" id="258" r:id="Re5f866dcff3d4b6d"/>
    <p:sldId xmlns:r="http://schemas.openxmlformats.org/officeDocument/2006/relationships" id="259" r:id="R1ca6c9a79ac54ead"/>
    <p:sldId xmlns:r="http://schemas.openxmlformats.org/officeDocument/2006/relationships" id="260" r:id="R5edd0e6f1a4948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ffda8875024fe8" /><Relationship Type="http://schemas.openxmlformats.org/officeDocument/2006/relationships/slideMaster" Target="/ppt/slideMasters/slideMaster1.xml" Id="R93aa4f826c274322" /><Relationship Type="http://schemas.openxmlformats.org/officeDocument/2006/relationships/notesMaster" Target="/ppt/notesMasters/notesMaster1.xml" Id="Rdb5488e857fb4d78" /><Relationship Type="http://schemas.openxmlformats.org/officeDocument/2006/relationships/presProps" Target="/ppt/presProps.xml" Id="Re2b425154ddc409e" /><Relationship Type="http://schemas.openxmlformats.org/officeDocument/2006/relationships/tableStyles" Target="/ppt/tableStyles.xml" Id="R4e4a21784050472a" /><Relationship Type="http://schemas.openxmlformats.org/officeDocument/2006/relationships/slide" Target="/ppt/slides/slide1.xml" Id="Rf94924dff02845d3" /><Relationship Type="http://schemas.openxmlformats.org/officeDocument/2006/relationships/slide" Target="/ppt/slides/slide2.xml" Id="R7e22aedc1a324f8d" /><Relationship Type="http://schemas.openxmlformats.org/officeDocument/2006/relationships/slide" Target="/ppt/slides/slide3.xml" Id="Re5f866dcff3d4b6d" /><Relationship Type="http://schemas.openxmlformats.org/officeDocument/2006/relationships/slide" Target="/ppt/slides/slide4.xml" Id="R1ca6c9a79ac54ead" /><Relationship Type="http://schemas.openxmlformats.org/officeDocument/2006/relationships/slide" Target="/ppt/slides/slide5.xml" Id="R5edd0e6f1a4948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5a4944fb4548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02a617e5104038" /><Relationship Type="http://schemas.openxmlformats.org/officeDocument/2006/relationships/notesMaster" Target="/ppt/notesMasters/notesMaster1.xml" Id="R16c3bed7ec0547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fd4609788f45d9" /><Relationship Type="http://schemas.openxmlformats.org/officeDocument/2006/relationships/notesMaster" Target="/ppt/notesMasters/notesMaster1.xml" Id="R54fb8c7b68d845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ce5577bdbc412c" /><Relationship Type="http://schemas.openxmlformats.org/officeDocument/2006/relationships/notesMaster" Target="/ppt/notesMasters/notesMaster1.xml" Id="R94315993370740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9456d552744967" /><Relationship Type="http://schemas.openxmlformats.org/officeDocument/2006/relationships/notesMaster" Target="/ppt/notesMasters/notesMaster1.xml" Id="Re717171c078641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4faa36f926411d" /><Relationship Type="http://schemas.openxmlformats.org/officeDocument/2006/relationships/notesMaster" Target="/ppt/notesMasters/notesMaster1.xml" Id="R3ba2e5f45df44a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a:t>
            </a:r>
          </a:p>
          <a:p xmlns:a="http://schemas.openxmlformats.org/drawingml/2006/main">
            <a:r>
              <a:t>I built this prototype to help a reviewer identify concentration breaches and pricing issues in a portfolio. It accepts positions and market data as CSV, plus policy limits as JSON. C# produces the calculated report, and Claude optionally explains it. The sample data is fictional. This is a practice project, not a live trading system.</a:t>
            </a:r>
          </a:p>
          <a:p xmlns:a="http://schemas.openxmlformats.org/drawingml/2006/main">
            <a:r>
              <a:t>Source: project summaries and console runs supplied by Ian in this conversation,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a:t>
            </a:r>
          </a:p>
          <a:p xmlns:a="http://schemas.openxmlformats.org/drawingml/2006/main">
            <a:r>
              <a:t>The application loads and validates the input files. ExposureCalculator works on objects in memory, with no file access, so tests can exercise the calculation directly. ReportWriter saves the report before any optional AI step. The explain mode sends a selected report directly to Claude. The ask mode exposes read-only tools and lets the model request the relevant information. No framework or MCP server is required for this prototype.</a:t>
            </a:r>
          </a:p>
          <a:p xmlns:a="http://schemas.openxmlformats.org/drawingml/2006/main">
            <a:r>
              <a:t>Source: Claude Code implementation summaries supplied by Ian. Actual source files were not independently inspected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a:t>
            </a:r>
          </a:p>
          <a:p xmlns:a="http://schemas.openxmlformats.org/drawingml/2006/main">
            <a:r>
              <a:t>P2 has an unpriced XYZ position, so the calculated total covers only BP and ULVR. The exposure percentages therefore use a partial denominator and remain provisional. BP also uses a price that is seven calendar days old against a three-day maximum. The stale price remains in the valuation. Both instruments exceed the 25 percent limit and their sectors exceed the 40 percent limit. These are checks against configured policy, not trading recommendations. P1 provides a simple complete case: GBP 10,000 total, HSBA 30 percent, Financials 50 percent.</a:t>
            </a:r>
          </a:p>
          <a:p xmlns:a="http://schemas.openxmlformats.org/drawingml/2006/main">
            <a:r>
              <a:t>Source: actual console output supplied by Ian for valuation date 2026-10-02.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75 seconds.</a:t>
            </a:r>
          </a:p>
          <a:p xmlns:a="http://schemas.openxmlformats.org/drawingml/2006/main">
            <a:r>
              <a:t>For the P2 question, Claude requested get_portfolio_report with P2 and get_policy in the same response. C# validated and executed the requests, then sent the results back with matching tool-use IDs. Claude used those results to explain the provisional exposures and all reported issues accurately. I also asked about P9. The portfolio tool returned a structured not-found error listing P1 and P2. Claude acknowledged the limitation without inventing holdings or breaches. The calculated report still saved. The implementation limits the agent to five model calls and a 60-second interaction.</a:t>
            </a:r>
          </a:p>
          <a:p xmlns:a="http://schemas.openxmlformats.org/drawingml/2006/main">
            <a:r>
              <a:t>Source: both live tool traces and answers supplied by Ian,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a:t>
            </a:r>
          </a:p>
          <a:p xmlns:a="http://schemas.openxmlformats.org/drawingml/2006/main">
            <a:r>
              <a:t>Claude Code reported 19 passing offline tests, including calculation boundaries, tool argument errors and a fake model loop. I separately verified real P2 and P9 API runs. Decimal arithmetic is appropriate for financial values, although repeating ratios still require rounding. Breach comparisons use the unrounded percentage and report formatting uses four decimal places. The current parser has limited CSV support. Missing prices create provisional exposures, and stale prices remain valued with a warning. AI explanations can still be inaccurate, so prompt instructions are not a guarantee. Next improvements would include a standard CSV parser and automated checks of explanation quality. Claude Code assisted implementation and tests, and I used walkthroughs and live runs to check behaviour.</a:t>
            </a:r>
          </a:p>
          <a:p xmlns:a="http://schemas.openxmlformats.org/drawingml/2006/main">
            <a:r>
              <a:t>Source: implementation and testing summaries supplied by Ian, plus live console outputs. Offline tests are reported by Claude Code rather than independently run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86012fdcee4e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8bc8cc300c46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1520ea24bd40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af794b7d9f45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ecad697e56d4fe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d2babe033545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BC104F9-303E-402A-AD6E-156D2773407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7589E59-E774-485E-A534-AC15620A015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FEEE772-A3DE-4050-ACE2-3AE25E96E3B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C5453AC-9640-4151-9767-E95C89BDCC11}"/>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F5F6CF66-CB65-4D32-8B42-F6485D7B66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98613A5-797D-4886-AC38-4395642151A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A6F2967-5C32-4745-8CCE-756B3E5241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1B632A2-5344-4DE0-99A3-AE5958D6B5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D413FE52-DCA4-48EB-B846-3F77EA8092B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8CC3AA4-49DC-4AE7-8DC3-FA207A475A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708E3913-B6EA-4A6B-9080-371448FF64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FC241D5F-4DCC-4389-A97F-AD4863FAE93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0697473-332B-4DB5-BD72-C06F08BA130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4C1E290-0E95-434C-9CDA-538491CE87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01D3E66-6042-4BC3-A890-618DE4D614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376c826a2242a1" /><Relationship Type="http://schemas.openxmlformats.org/officeDocument/2006/relationships/slideLayout" Target="/ppt/slideLayouts/slideLayout1.xml" Id="R9f1b0a69725e4655" /><Relationship Type="http://schemas.openxmlformats.org/officeDocument/2006/relationships/slideLayout" Target="/ppt/slideLayouts/slideLayout2.xml" Id="R6d0ab502a857499c" /><Relationship Type="http://schemas.openxmlformats.org/officeDocument/2006/relationships/slideLayout" Target="/ppt/slideLayouts/slideLayout3.xml" Id="Re3510e50875c4cca" /><Relationship Type="http://schemas.openxmlformats.org/officeDocument/2006/relationships/slideLayout" Target="/ppt/slideLayouts/slideLayout4.xml" Id="R1078d1d2892e477e" /><Relationship Type="http://schemas.openxmlformats.org/officeDocument/2006/relationships/slideLayout" Target="/ppt/slideLayouts/slideLayout5.xml" Id="Rcba91dcbbe16496e" /><Relationship Type="http://schemas.openxmlformats.org/officeDocument/2006/relationships/slideLayout" Target="/ppt/slideLayouts/slideLayout6.xml" Id="Rc7eff33e4d994e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1b0a69725e4655"/>
    <p:sldLayoutId xmlns:r="http://schemas.openxmlformats.org/officeDocument/2006/relationships" id="2147483650" r:id="R6d0ab502a857499c"/>
    <p:sldLayoutId xmlns:r="http://schemas.openxmlformats.org/officeDocument/2006/relationships" id="2147483651" r:id="Re3510e50875c4cca"/>
    <p:sldLayoutId xmlns:r="http://schemas.openxmlformats.org/officeDocument/2006/relationships" id="2147483652" r:id="R1078d1d2892e477e"/>
    <p:sldLayoutId xmlns:r="http://schemas.openxmlformats.org/officeDocument/2006/relationships" id="2147483653" r:id="Rcba91dcbbe16496e"/>
    <p:sldLayoutId xmlns:r="http://schemas.openxmlformats.org/officeDocument/2006/relationships" id="2147483654" r:id="Rc7eff33e4d994e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b0e009d0b624de1" /><Relationship Type="http://schemas.openxmlformats.org/officeDocument/2006/relationships/notesSlide" Target="/ppt/notesSlides/notesSlide1.xml" Id="Rc85c96efbf6e49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9aa892213be4bc6" /><Relationship Type="http://schemas.openxmlformats.org/officeDocument/2006/relationships/notesSlide" Target="/ppt/notesSlides/notesSlide2.xml" Id="Rf060a62b180546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65c42801ea4a23" /><Relationship Type="http://schemas.openxmlformats.org/officeDocument/2006/relationships/notesSlide" Target="/ppt/notesSlides/notesSlide3.xml" Id="R0489a314731a49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b14d9fe968b455c" /><Relationship Type="http://schemas.openxmlformats.org/officeDocument/2006/relationships/notesSlide" Target="/ppt/notesSlides/notesSlide4.xml" Id="R643115bc6d2641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12c26f7cc14b79" /><Relationship Type="http://schemas.openxmlformats.org/officeDocument/2006/relationships/notesSlide" Target="/ppt/notesSlides/notesSlide5.xml" Id="Rf1a6d10614784e78" /></Relationships>
</file>

<file path=ppt/slides/slide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CD5E3E-83E5-4708-BC08-04A13233C09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348"/>
                </a:solidFill>
                <a:latin typeface="Bitstream Charter"/>
                <a:ea typeface="Bitstream Charter"/>
                <a:cs typeface="Bitstream Charter"/>
              </a:defRPr>
            </a:pPr>
            <a:r>
              <a:rPr sz="3450" b="1">
                <a:solidFill>
                  <a:srgbClr val="123348"/>
                </a:solidFill>
                <a:latin typeface="Bitstream Charter"/>
                <a:ea typeface="Bitstream Charter"/>
                <a:cs typeface="Bitstream Charter"/>
              </a:rPr>
              <a:t>Portfolio Exposure Review Assistant</a:t>
            </a:r>
          </a:p>
        </p:txBody>
      </p:sp>
      <p:sp>
        <p:nvSpPr>
          <p:cNvPr id="2" name="">
            <a:extLst xmlns:a="http://schemas.openxmlformats.org/drawingml/2006/main">
              <a:ext uri="{FF2B5EF4-FFF2-40B4-BE49-F238E27FC236}">
                <a16:creationId xmlns:a16="http://schemas.microsoft.com/office/drawing/2014/main" id="{2571B5F0-2A18-4A53-BE31-663D0FF40D33}"/>
              </a:ext>
            </a:extLst>
          </p:cNvPr>
          <p:cNvSpPr>
            <a:spLocks xmlns:a="http://schemas.openxmlformats.org/drawingml/2006/main" noGrp="1"/>
          </p:cNvSpPr>
          <p:nvPr/>
        </p:nvSpPr>
        <p:spPr>
          <a:xfrm xmlns:a="http://schemas.openxmlformats.org/drawingml/2006/main">
            <a:off x="609600" y="14382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76270"/>
                </a:solidFill>
                <a:latin typeface="Bitstream Charter"/>
                <a:ea typeface="Bitstream Charter"/>
                <a:cs typeface="Bitstream Charter"/>
              </a:defRPr>
            </a:pPr>
            <a:r>
              <a:rPr sz="1875" b="0">
                <a:solidFill>
                  <a:srgbClr val="476270"/>
                </a:solidFill>
                <a:latin typeface="Bitstream Charter"/>
                <a:ea typeface="Bitstream Charter"/>
                <a:cs typeface="Bitstream Charter"/>
              </a:rPr>
              <a:t>Ian Chow     •     C# practice challenge</a:t>
            </a:r>
          </a:p>
        </p:txBody>
      </p:sp>
      <p:sp>
        <p:nvSpPr>
          <p:cNvPr id="3" name="">
            <a:extLst xmlns:a="http://schemas.openxmlformats.org/drawingml/2006/main">
              <a:ext uri="{FF2B5EF4-FFF2-40B4-BE49-F238E27FC236}">
                <a16:creationId xmlns:a16="http://schemas.microsoft.com/office/drawing/2014/main" id="{3EFBD92D-85A3-40C1-A662-3CD4DBBFEEAC}"/>
              </a:ext>
            </a:extLst>
          </p:cNvPr>
          <p:cNvSpPr>
            <a:spLocks xmlns:a="http://schemas.openxmlformats.org/drawingml/2006/main" noGrp="1"/>
          </p:cNvSpPr>
          <p:nvPr/>
        </p:nvSpPr>
        <p:spPr>
          <a:xfrm xmlns:a="http://schemas.openxmlformats.org/drawingml/2006/main">
            <a:off x="11239500" y="626745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76270"/>
                </a:solidFill>
                <a:latin typeface="Bitstream Charter"/>
                <a:ea typeface="Bitstream Charter"/>
                <a:cs typeface="Bitstream Charter"/>
              </a:defRPr>
            </a:pPr>
            <a:r>
              <a:rPr sz="1350" b="0">
                <a:solidFill>
                  <a:srgbClr val="476270"/>
                </a:solidFill>
                <a:latin typeface="Bitstream Charter"/>
                <a:ea typeface="Bitstream Charter"/>
                <a:cs typeface="Bitstream Charter"/>
              </a:rPr>
              <a:t>1</a:t>
            </a:r>
          </a:p>
        </p:txBody>
      </p:sp>
      <p:sp>
        <p:nvSpPr>
          <p:cNvPr id="4" name="">
            <a:extLst xmlns:a="http://schemas.openxmlformats.org/drawingml/2006/main">
              <a:ext uri="{FF2B5EF4-FFF2-40B4-BE49-F238E27FC236}">
                <a16:creationId xmlns:a16="http://schemas.microsoft.com/office/drawing/2014/main" id="{3B65F5BF-DB8F-4B76-863C-887D9E10AF80}"/>
              </a:ext>
            </a:extLst>
          </p:cNvPr>
          <p:cNvSpPr>
            <a:spLocks xmlns:a="http://schemas.openxmlformats.org/drawingml/2006/main" noGrp="1"/>
          </p:cNvSpPr>
          <p:nvPr/>
        </p:nvSpPr>
        <p:spPr>
          <a:xfrm xmlns:a="http://schemas.openxmlformats.org/drawingml/2006/main">
            <a:off x="609600" y="257175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9374A"/>
                </a:solidFill>
                <a:latin typeface="Bitstream Charter"/>
                <a:ea typeface="Bitstream Charter"/>
                <a:cs typeface="Bitstream Charter"/>
              </a:defRPr>
            </a:pPr>
            <a:r>
              <a:rPr sz="2850" b="1">
                <a:solidFill>
                  <a:srgbClr val="19374A"/>
                </a:solidFill>
                <a:latin typeface="Bitstream Charter"/>
                <a:ea typeface="Bitstream Charter"/>
                <a:cs typeface="Bitstream Charter"/>
              </a:rPr>
              <a:t>Portfolio reviewers need to see where limits</a:t>
            </a:r>
          </a:p>
          <a:p xmlns:a="http://schemas.openxmlformats.org/drawingml/2006/main">
            <a:pPr>
              <a:defRPr sz="2850" b="1">
                <a:solidFill>
                  <a:srgbClr val="19374A"/>
                </a:solidFill>
                <a:latin typeface="Bitstream Charter"/>
                <a:ea typeface="Bitstream Charter"/>
                <a:cs typeface="Bitstream Charter"/>
              </a:defRPr>
            </a:pPr>
            <a:r>
              <a:rPr sz="2850" b="1">
                <a:solidFill>
                  <a:srgbClr val="19374A"/>
                </a:solidFill>
                <a:latin typeface="Bitstream Charter"/>
                <a:ea typeface="Bitstream Charter"/>
                <a:cs typeface="Bitstream Charter"/>
              </a:rPr>
              <a:t>are exceeded and where prices are unreliable.</a:t>
            </a:r>
          </a:p>
        </p:txBody>
      </p:sp>
      <p:sp>
        <p:nvSpPr>
          <p:cNvPr id="5" name="">
            <a:extLst xmlns:a="http://schemas.openxmlformats.org/drawingml/2006/main">
              <a:ext uri="{FF2B5EF4-FFF2-40B4-BE49-F238E27FC236}">
                <a16:creationId xmlns:a16="http://schemas.microsoft.com/office/drawing/2014/main" id="{0973A6D8-71DC-403C-8583-ACED477D187A}"/>
              </a:ext>
            </a:extLst>
          </p:cNvPr>
          <p:cNvSpPr>
            <a:spLocks xmlns:a="http://schemas.openxmlformats.org/drawingml/2006/main" noGrp="1"/>
          </p:cNvSpPr>
          <p:nvPr/>
        </p:nvSpPr>
        <p:spPr>
          <a:xfrm xmlns:a="http://schemas.openxmlformats.org/drawingml/2006/main">
            <a:off x="609600" y="42291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374A"/>
                </a:solidFill>
                <a:latin typeface="Bitstream Charter"/>
                <a:ea typeface="Bitstream Charter"/>
                <a:cs typeface="Bitstream Charter"/>
              </a:defRPr>
            </a:pPr>
            <a:r>
              <a:rPr sz="2175" b="0">
                <a:solidFill>
                  <a:srgbClr val="19374A"/>
                </a:solidFill>
                <a:latin typeface="Bitstream Charter"/>
                <a:ea typeface="Bitstream Charter"/>
                <a:cs typeface="Bitstream Charter"/>
              </a:rPr>
              <a:t>Inputs: positions CSV, market data CSV and policy JSON</a:t>
            </a:r>
          </a:p>
          <a:p xmlns:a="http://schemas.openxmlformats.org/drawingml/2006/main">
            <a:pPr>
              <a:defRPr sz="2175" b="0">
                <a:solidFill>
                  <a:srgbClr val="19374A"/>
                </a:solidFill>
                <a:latin typeface="Bitstream Charter"/>
                <a:ea typeface="Bitstream Charter"/>
                <a:cs typeface="Bitstream Charter"/>
              </a:defRPr>
            </a:pPr>
            <a:r>
              <a:rPr sz="2175" b="0">
                <a:solidFill>
                  <a:srgbClr val="19374A"/>
                </a:solidFill>
                <a:latin typeface="Bitstream Charter"/>
                <a:ea typeface="Bitstream Charter"/>
                <a:cs typeface="Bitstream Charter"/>
              </a:rPr>
              <a:t>Outputs: a JSON report and optional AI explanation</a:t>
            </a:r>
          </a:p>
        </p:txBody>
      </p:sp>
      <p:sp>
        <p:nvSpPr>
          <p:cNvPr id="6" name="">
            <a:extLst xmlns:a="http://schemas.openxmlformats.org/drawingml/2006/main">
              <a:ext uri="{FF2B5EF4-FFF2-40B4-BE49-F238E27FC236}">
                <a16:creationId xmlns:a16="http://schemas.microsoft.com/office/drawing/2014/main" id="{031EA6B1-A293-4C3A-9317-A63D57508573}"/>
              </a:ext>
            </a:extLst>
          </p:cNvPr>
          <p:cNvSpPr>
            <a:spLocks xmlns:a="http://schemas.openxmlformats.org/drawingml/2006/main" noGrp="1"/>
          </p:cNvSpPr>
          <p:nvPr/>
        </p:nvSpPr>
        <p:spPr>
          <a:xfrm xmlns:a="http://schemas.openxmlformats.org/drawingml/2006/main">
            <a:off x="609600" y="57435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76270"/>
                </a:solidFill>
                <a:latin typeface="Bitstream Charter"/>
                <a:ea typeface="Bitstream Charter"/>
                <a:cs typeface="Bitstream Charter"/>
              </a:defRPr>
            </a:pPr>
            <a:r>
              <a:rPr sz="1650" b="0">
                <a:solidFill>
                  <a:srgbClr val="476270"/>
                </a:solidFill>
                <a:latin typeface="Bitstream Charter"/>
                <a:ea typeface="Bitstream Charter"/>
                <a:cs typeface="Bitstream Charter"/>
              </a:rPr>
              <a:t>Scope: GBP holdings, long-only positions, fictional sample data</a:t>
            </a:r>
          </a:p>
        </p:txBody>
      </p:sp>
    </p:spTree>
    <p:extLst>
      <p:ext uri="{BB962C8B-B14F-4D97-AF65-F5344CB8AC3E}">
        <p14:creationId xmlns:p14="http://schemas.microsoft.com/office/powerpoint/2010/main" val="170031193"/>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52D44F-1E9B-474C-8F17-E8799FC1768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348"/>
                </a:solidFill>
                <a:latin typeface="Bitstream Charter"/>
                <a:ea typeface="Bitstream Charter"/>
                <a:cs typeface="Bitstream Charter"/>
              </a:defRPr>
            </a:pPr>
            <a:r>
              <a:rPr sz="3450" b="1">
                <a:solidFill>
                  <a:srgbClr val="123348"/>
                </a:solidFill>
                <a:latin typeface="Bitstream Charter"/>
                <a:ea typeface="Bitstream Charter"/>
                <a:cs typeface="Bitstream Charter"/>
              </a:rPr>
              <a:t>Application architecture</a:t>
            </a:r>
          </a:p>
        </p:txBody>
      </p:sp>
      <p:sp>
        <p:nvSpPr>
          <p:cNvPr id="2" name="">
            <a:extLst xmlns:a="http://schemas.openxmlformats.org/drawingml/2006/main">
              <a:ext uri="{FF2B5EF4-FFF2-40B4-BE49-F238E27FC236}">
                <a16:creationId xmlns:a16="http://schemas.microsoft.com/office/drawing/2014/main" id="{C305ADBD-43DC-4A73-87CD-9201925B5E8B}"/>
              </a:ext>
            </a:extLst>
          </p:cNvPr>
          <p:cNvSpPr>
            <a:spLocks xmlns:a="http://schemas.openxmlformats.org/drawingml/2006/main" noGrp="1"/>
          </p:cNvSpPr>
          <p:nvPr/>
        </p:nvSpPr>
        <p:spPr>
          <a:xfrm xmlns:a="http://schemas.openxmlformats.org/drawingml/2006/main">
            <a:off x="609600" y="14382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76270"/>
                </a:solidFill>
                <a:latin typeface="Bitstream Charter"/>
                <a:ea typeface="Bitstream Charter"/>
                <a:cs typeface="Bitstream Charter"/>
              </a:defRPr>
            </a:pPr>
            <a:r>
              <a:rPr sz="1875" b="0">
                <a:solidFill>
                  <a:srgbClr val="476270"/>
                </a:solidFill>
                <a:latin typeface="Bitstream Charter"/>
                <a:ea typeface="Bitstream Charter"/>
                <a:cs typeface="Bitstream Charter"/>
              </a:rPr>
              <a:t>C# owns the calculations and policy checks</a:t>
            </a:r>
          </a:p>
        </p:txBody>
      </p:sp>
      <p:sp>
        <p:nvSpPr>
          <p:cNvPr id="3" name="">
            <a:extLst xmlns:a="http://schemas.openxmlformats.org/drawingml/2006/main">
              <a:ext uri="{FF2B5EF4-FFF2-40B4-BE49-F238E27FC236}">
                <a16:creationId xmlns:a16="http://schemas.microsoft.com/office/drawing/2014/main" id="{B5CD245A-7F78-436D-BA54-14DEDA6C1FA9}"/>
              </a:ext>
            </a:extLst>
          </p:cNvPr>
          <p:cNvSpPr>
            <a:spLocks xmlns:a="http://schemas.openxmlformats.org/drawingml/2006/main" noGrp="1"/>
          </p:cNvSpPr>
          <p:nvPr/>
        </p:nvSpPr>
        <p:spPr>
          <a:xfrm xmlns:a="http://schemas.openxmlformats.org/drawingml/2006/main">
            <a:off x="11239500" y="626745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76270"/>
                </a:solidFill>
                <a:latin typeface="Bitstream Charter"/>
                <a:ea typeface="Bitstream Charter"/>
                <a:cs typeface="Bitstream Charter"/>
              </a:defRPr>
            </a:pPr>
            <a:r>
              <a:rPr sz="1350" b="0">
                <a:solidFill>
                  <a:srgbClr val="476270"/>
                </a:solidFill>
                <a:latin typeface="Bitstream Charter"/>
                <a:ea typeface="Bitstream Charter"/>
                <a:cs typeface="Bitstream Charter"/>
              </a:rPr>
              <a:t>2</a:t>
            </a:r>
          </a:p>
        </p:txBody>
      </p:sp>
      <p:sp>
        <p:nvSpPr>
          <p:cNvPr id="4" name="">
            <a:extLst xmlns:a="http://schemas.openxmlformats.org/drawingml/2006/main">
              <a:ext uri="{FF2B5EF4-FFF2-40B4-BE49-F238E27FC236}">
                <a16:creationId xmlns:a16="http://schemas.microsoft.com/office/drawing/2014/main" id="{22BA4509-C7D3-4DAC-B612-6528485625C4}"/>
              </a:ext>
            </a:extLst>
          </p:cNvPr>
          <p:cNvSpPr>
            <a:spLocks xmlns:a="http://schemas.openxmlformats.org/drawingml/2006/main" noGrp="1"/>
          </p:cNvSpPr>
          <p:nvPr/>
        </p:nvSpPr>
        <p:spPr>
          <a:xfrm xmlns:a="http://schemas.openxmlformats.org/drawingml/2006/main">
            <a:off x="609600" y="2400300"/>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777D"/>
                </a:solidFill>
                <a:latin typeface="Bitstream Charter"/>
                <a:ea typeface="Bitstream Charter"/>
                <a:cs typeface="Bitstream Charter"/>
              </a:defRPr>
            </a:pPr>
            <a:r>
              <a:rPr sz="1800" b="1">
                <a:solidFill>
                  <a:srgbClr val="15777D"/>
                </a:solidFill>
                <a:latin typeface="Bitstream Charter"/>
                <a:ea typeface="Bitstream Charter"/>
                <a:cs typeface="Bitstream Charter"/>
              </a:rPr>
              <a:t>INPUT</a:t>
            </a:r>
          </a:p>
        </p:txBody>
      </p:sp>
      <p:sp>
        <p:nvSpPr>
          <p:cNvPr id="5" name="">
            <a:extLst xmlns:a="http://schemas.openxmlformats.org/drawingml/2006/main">
              <a:ext uri="{FF2B5EF4-FFF2-40B4-BE49-F238E27FC236}">
                <a16:creationId xmlns:a16="http://schemas.microsoft.com/office/drawing/2014/main" id="{C3EA572E-BE0E-437A-814E-6E9F7D789182}"/>
              </a:ext>
            </a:extLst>
          </p:cNvPr>
          <p:cNvSpPr>
            <a:spLocks xmlns:a="http://schemas.openxmlformats.org/drawingml/2006/main" noGrp="1"/>
          </p:cNvSpPr>
          <p:nvPr/>
        </p:nvSpPr>
        <p:spPr>
          <a:xfrm xmlns:a="http://schemas.openxmlformats.org/drawingml/2006/main">
            <a:off x="2952750" y="2400300"/>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374A"/>
                </a:solidFill>
                <a:latin typeface="Bitstream Charter"/>
                <a:ea typeface="Bitstream Charter"/>
                <a:cs typeface="Bitstream Charter"/>
              </a:defRPr>
            </a:pPr>
            <a:r>
              <a:rPr sz="2100" b="0">
                <a:solidFill>
                  <a:srgbClr val="19374A"/>
                </a:solidFill>
                <a:latin typeface="Bitstream Charter"/>
                <a:ea typeface="Bitstream Charter"/>
                <a:cs typeface="Bitstream Charter"/>
              </a:rPr>
              <a:t>InputLoader reads positions, prices and policy</a:t>
            </a:r>
          </a:p>
        </p:txBody>
      </p:sp>
      <p:sp>
        <p:nvSpPr>
          <p:cNvPr id="6" name="">
            <a:extLst xmlns:a="http://schemas.openxmlformats.org/drawingml/2006/main">
              <a:ext uri="{FF2B5EF4-FFF2-40B4-BE49-F238E27FC236}">
                <a16:creationId xmlns:a16="http://schemas.microsoft.com/office/drawing/2014/main" id="{5C3EAE24-2C86-4E89-8D9C-6285A92C0FCB}"/>
              </a:ext>
            </a:extLst>
          </p:cNvPr>
          <p:cNvSpPr>
            <a:spLocks xmlns:a="http://schemas.openxmlformats.org/drawingml/2006/main" noGrp="1"/>
          </p:cNvSpPr>
          <p:nvPr/>
        </p:nvSpPr>
        <p:spPr>
          <a:xfrm xmlns:a="http://schemas.openxmlformats.org/drawingml/2006/main">
            <a:off x="609600" y="3238500"/>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777D"/>
                </a:solidFill>
                <a:latin typeface="Bitstream Charter"/>
                <a:ea typeface="Bitstream Charter"/>
                <a:cs typeface="Bitstream Charter"/>
              </a:defRPr>
            </a:pPr>
            <a:r>
              <a:rPr sz="1800" b="1">
                <a:solidFill>
                  <a:srgbClr val="15777D"/>
                </a:solidFill>
                <a:latin typeface="Bitstream Charter"/>
                <a:ea typeface="Bitstream Charter"/>
                <a:cs typeface="Bitstream Charter"/>
              </a:rPr>
              <a:t>CALCULATION</a:t>
            </a:r>
          </a:p>
        </p:txBody>
      </p:sp>
      <p:sp>
        <p:nvSpPr>
          <p:cNvPr id="7" name="">
            <a:extLst xmlns:a="http://schemas.openxmlformats.org/drawingml/2006/main">
              <a:ext uri="{FF2B5EF4-FFF2-40B4-BE49-F238E27FC236}">
                <a16:creationId xmlns:a16="http://schemas.microsoft.com/office/drawing/2014/main" id="{A6E3F84E-7B2B-421A-A6D4-4A3EDDAA80CE}"/>
              </a:ext>
            </a:extLst>
          </p:cNvPr>
          <p:cNvSpPr>
            <a:spLocks xmlns:a="http://schemas.openxmlformats.org/drawingml/2006/main" noGrp="1"/>
          </p:cNvSpPr>
          <p:nvPr/>
        </p:nvSpPr>
        <p:spPr>
          <a:xfrm xmlns:a="http://schemas.openxmlformats.org/drawingml/2006/main">
            <a:off x="2952750" y="3238500"/>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374A"/>
                </a:solidFill>
                <a:latin typeface="Bitstream Charter"/>
                <a:ea typeface="Bitstream Charter"/>
                <a:cs typeface="Bitstream Charter"/>
              </a:defRPr>
            </a:pPr>
            <a:r>
              <a:rPr sz="2100" b="0">
                <a:solidFill>
                  <a:srgbClr val="19374A"/>
                </a:solidFill>
                <a:latin typeface="Bitstream Charter"/>
                <a:ea typeface="Bitstream Charter"/>
                <a:cs typeface="Bitstream Charter"/>
              </a:rPr>
              <a:t>ExposureCalculator values holdings and checks limits</a:t>
            </a:r>
          </a:p>
        </p:txBody>
      </p:sp>
      <p:sp>
        <p:nvSpPr>
          <p:cNvPr id="8" name="">
            <a:extLst xmlns:a="http://schemas.openxmlformats.org/drawingml/2006/main">
              <a:ext uri="{FF2B5EF4-FFF2-40B4-BE49-F238E27FC236}">
                <a16:creationId xmlns:a16="http://schemas.microsoft.com/office/drawing/2014/main" id="{DEED973F-D335-4F4C-87C6-995D9AE13DA4}"/>
              </a:ext>
            </a:extLst>
          </p:cNvPr>
          <p:cNvSpPr>
            <a:spLocks xmlns:a="http://schemas.openxmlformats.org/drawingml/2006/main" noGrp="1"/>
          </p:cNvSpPr>
          <p:nvPr/>
        </p:nvSpPr>
        <p:spPr>
          <a:xfrm xmlns:a="http://schemas.openxmlformats.org/drawingml/2006/main">
            <a:off x="609600" y="4076700"/>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777D"/>
                </a:solidFill>
                <a:latin typeface="Bitstream Charter"/>
                <a:ea typeface="Bitstream Charter"/>
                <a:cs typeface="Bitstream Charter"/>
              </a:defRPr>
            </a:pPr>
            <a:r>
              <a:rPr sz="1800" b="1">
                <a:solidFill>
                  <a:srgbClr val="15777D"/>
                </a:solidFill>
                <a:latin typeface="Bitstream Charter"/>
                <a:ea typeface="Bitstream Charter"/>
                <a:cs typeface="Bitstream Charter"/>
              </a:rPr>
              <a:t>OUTPUT</a:t>
            </a:r>
          </a:p>
        </p:txBody>
      </p:sp>
      <p:sp>
        <p:nvSpPr>
          <p:cNvPr id="9" name="">
            <a:extLst xmlns:a="http://schemas.openxmlformats.org/drawingml/2006/main">
              <a:ext uri="{FF2B5EF4-FFF2-40B4-BE49-F238E27FC236}">
                <a16:creationId xmlns:a16="http://schemas.microsoft.com/office/drawing/2014/main" id="{222706C8-1E4C-4996-BC00-6D3F9E5AFA79}"/>
              </a:ext>
            </a:extLst>
          </p:cNvPr>
          <p:cNvSpPr>
            <a:spLocks xmlns:a="http://schemas.openxmlformats.org/drawingml/2006/main" noGrp="1"/>
          </p:cNvSpPr>
          <p:nvPr/>
        </p:nvSpPr>
        <p:spPr>
          <a:xfrm xmlns:a="http://schemas.openxmlformats.org/drawingml/2006/main">
            <a:off x="2952750" y="4076700"/>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374A"/>
                </a:solidFill>
                <a:latin typeface="Bitstream Charter"/>
                <a:ea typeface="Bitstream Charter"/>
                <a:cs typeface="Bitstream Charter"/>
              </a:defRPr>
            </a:pPr>
            <a:r>
              <a:rPr sz="2100" b="0">
                <a:solidFill>
                  <a:srgbClr val="19374A"/>
                </a:solidFill>
                <a:latin typeface="Bitstream Charter"/>
                <a:ea typeface="Bitstream Charter"/>
                <a:cs typeface="Bitstream Charter"/>
              </a:rPr>
              <a:t>ReportWriter saves report.json before AI runs</a:t>
            </a:r>
          </a:p>
        </p:txBody>
      </p:sp>
      <p:sp>
        <p:nvSpPr>
          <p:cNvPr id="10" name="">
            <a:extLst xmlns:a="http://schemas.openxmlformats.org/drawingml/2006/main">
              <a:ext uri="{FF2B5EF4-FFF2-40B4-BE49-F238E27FC236}">
                <a16:creationId xmlns:a16="http://schemas.microsoft.com/office/drawing/2014/main" id="{151BAAF4-A356-4545-A0E5-28105F77B2C3}"/>
              </a:ext>
            </a:extLst>
          </p:cNvPr>
          <p:cNvSpPr>
            <a:spLocks xmlns:a="http://schemas.openxmlformats.org/drawingml/2006/main" noGrp="1"/>
          </p:cNvSpPr>
          <p:nvPr/>
        </p:nvSpPr>
        <p:spPr>
          <a:xfrm xmlns:a="http://schemas.openxmlformats.org/drawingml/2006/main">
            <a:off x="609600" y="4914900"/>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777D"/>
                </a:solidFill>
                <a:latin typeface="Bitstream Charter"/>
                <a:ea typeface="Bitstream Charter"/>
                <a:cs typeface="Bitstream Charter"/>
              </a:defRPr>
            </a:pPr>
            <a:r>
              <a:rPr sz="1800" b="1">
                <a:solidFill>
                  <a:srgbClr val="15777D"/>
                </a:solidFill>
                <a:latin typeface="Bitstream Charter"/>
                <a:ea typeface="Bitstream Charter"/>
                <a:cs typeface="Bitstream Charter"/>
              </a:rPr>
              <a:t>AI OPTIONS</a:t>
            </a:r>
          </a:p>
        </p:txBody>
      </p:sp>
      <p:sp>
        <p:nvSpPr>
          <p:cNvPr id="11" name="">
            <a:extLst xmlns:a="http://schemas.openxmlformats.org/drawingml/2006/main">
              <a:ext uri="{FF2B5EF4-FFF2-40B4-BE49-F238E27FC236}">
                <a16:creationId xmlns:a16="http://schemas.microsoft.com/office/drawing/2014/main" id="{7EE95A0B-F9D3-461B-B339-E11865321DD3}"/>
              </a:ext>
            </a:extLst>
          </p:cNvPr>
          <p:cNvSpPr>
            <a:spLocks xmlns:a="http://schemas.openxmlformats.org/drawingml/2006/main" noGrp="1"/>
          </p:cNvSpPr>
          <p:nvPr/>
        </p:nvSpPr>
        <p:spPr>
          <a:xfrm xmlns:a="http://schemas.openxmlformats.org/drawingml/2006/main">
            <a:off x="2952750" y="4914900"/>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9374A"/>
                </a:solidFill>
                <a:latin typeface="Bitstream Charter"/>
                <a:ea typeface="Bitstream Charter"/>
                <a:cs typeface="Bitstream Charter"/>
              </a:defRPr>
            </a:pPr>
            <a:r>
              <a:rPr sz="2100" b="0">
                <a:solidFill>
                  <a:srgbClr val="19374A"/>
                </a:solidFill>
                <a:latin typeface="Bitstream Charter"/>
                <a:ea typeface="Bitstream Charter"/>
                <a:cs typeface="Bitstream Charter"/>
              </a:rPr>
              <a:t>--explain sends data directly; --ask uses tools</a:t>
            </a:r>
          </a:p>
        </p:txBody>
      </p:sp>
    </p:spTree>
    <p:extLst>
      <p:ext uri="{BB962C8B-B14F-4D97-AF65-F5344CB8AC3E}">
        <p14:creationId xmlns:p14="http://schemas.microsoft.com/office/powerpoint/2010/main" val="518501443"/>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95AC8D-6F94-45D9-B4CC-C07D4C9E3544}"/>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348"/>
                </a:solidFill>
                <a:latin typeface="Bitstream Charter"/>
                <a:ea typeface="Bitstream Charter"/>
                <a:cs typeface="Bitstream Charter"/>
              </a:defRPr>
            </a:pPr>
            <a:r>
              <a:rPr sz="3450" b="1">
                <a:solidFill>
                  <a:srgbClr val="123348"/>
                </a:solidFill>
                <a:latin typeface="Bitstream Charter"/>
                <a:ea typeface="Bitstream Charter"/>
                <a:cs typeface="Bitstream Charter"/>
              </a:rPr>
              <a:t>P2 review results</a:t>
            </a:r>
          </a:p>
        </p:txBody>
      </p:sp>
      <p:sp>
        <p:nvSpPr>
          <p:cNvPr id="2" name="">
            <a:extLst xmlns:a="http://schemas.openxmlformats.org/drawingml/2006/main">
              <a:ext uri="{FF2B5EF4-FFF2-40B4-BE49-F238E27FC236}">
                <a16:creationId xmlns:a16="http://schemas.microsoft.com/office/drawing/2014/main" id="{55B7B738-B133-407E-8204-BFB0ADB9664B}"/>
              </a:ext>
            </a:extLst>
          </p:cNvPr>
          <p:cNvSpPr>
            <a:spLocks xmlns:a="http://schemas.openxmlformats.org/drawingml/2006/main" noGrp="1"/>
          </p:cNvSpPr>
          <p:nvPr/>
        </p:nvSpPr>
        <p:spPr>
          <a:xfrm xmlns:a="http://schemas.openxmlformats.org/drawingml/2006/main">
            <a:off x="609600" y="14382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76270"/>
                </a:solidFill>
                <a:latin typeface="Bitstream Charter"/>
                <a:ea typeface="Bitstream Charter"/>
                <a:cs typeface="Bitstream Charter"/>
              </a:defRPr>
            </a:pPr>
            <a:r>
              <a:rPr sz="1875" b="0">
                <a:solidFill>
                  <a:srgbClr val="476270"/>
                </a:solidFill>
                <a:latin typeface="Bitstream Charter"/>
                <a:ea typeface="Bitstream Charter"/>
                <a:cs typeface="Bitstream Charter"/>
              </a:rPr>
              <a:t>GBP 8,500 priced total, with provisional exposures</a:t>
            </a:r>
          </a:p>
        </p:txBody>
      </p:sp>
      <p:sp>
        <p:nvSpPr>
          <p:cNvPr id="3" name="">
            <a:extLst xmlns:a="http://schemas.openxmlformats.org/drawingml/2006/main">
              <a:ext uri="{FF2B5EF4-FFF2-40B4-BE49-F238E27FC236}">
                <a16:creationId xmlns:a16="http://schemas.microsoft.com/office/drawing/2014/main" id="{5D11FC2F-C3AA-4217-9B93-3217056E74B6}"/>
              </a:ext>
            </a:extLst>
          </p:cNvPr>
          <p:cNvSpPr>
            <a:spLocks xmlns:a="http://schemas.openxmlformats.org/drawingml/2006/main" noGrp="1"/>
          </p:cNvSpPr>
          <p:nvPr/>
        </p:nvSpPr>
        <p:spPr>
          <a:xfrm xmlns:a="http://schemas.openxmlformats.org/drawingml/2006/main">
            <a:off x="11239500" y="626745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76270"/>
                </a:solidFill>
                <a:latin typeface="Bitstream Charter"/>
                <a:ea typeface="Bitstream Charter"/>
                <a:cs typeface="Bitstream Charter"/>
              </a:defRPr>
            </a:pPr>
            <a:r>
              <a:rPr sz="1350" b="0">
                <a:solidFill>
                  <a:srgbClr val="476270"/>
                </a:solidFill>
                <a:latin typeface="Bitstream Charter"/>
                <a:ea typeface="Bitstream Charter"/>
                <a:cs typeface="Bitstream Charter"/>
              </a:rPr>
              <a:t>3</a:t>
            </a:r>
          </a:p>
        </p:txBody>
      </p:sp>
      <p:sp>
        <p:nvSpPr>
          <p:cNvPr id="4" name="">
            <a:extLst xmlns:a="http://schemas.openxmlformats.org/drawingml/2006/main">
              <a:ext uri="{FF2B5EF4-FFF2-40B4-BE49-F238E27FC236}">
                <a16:creationId xmlns:a16="http://schemas.microsoft.com/office/drawing/2014/main" id="{4CCA622C-3645-440A-A5E3-1612FDD7F858}"/>
              </a:ext>
            </a:extLst>
          </p:cNvPr>
          <p:cNvSpPr>
            <a:spLocks xmlns:a="http://schemas.openxmlformats.org/drawingml/2006/main" noGrp="1"/>
          </p:cNvSpPr>
          <p:nvPr/>
        </p:nvSpPr>
        <p:spPr>
          <a:xfrm xmlns:a="http://schemas.openxmlformats.org/drawingml/2006/main">
            <a:off x="609600" y="2247900"/>
            <a:ext cx="1090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374A"/>
                </a:solidFill>
                <a:latin typeface="Bitstream Charter"/>
                <a:ea typeface="Bitstream Charter"/>
                <a:cs typeface="Bitstream Charter"/>
              </a:defRPr>
            </a:pPr>
            <a:r>
              <a:rPr sz="2175" b="0">
                <a:solidFill>
                  <a:srgbClr val="19374A"/>
                </a:solidFill>
                <a:latin typeface="Bitstream Charter"/>
                <a:ea typeface="Bitstream Charter"/>
                <a:cs typeface="Bitstream Charter"/>
              </a:rPr>
              <a:t>Missing price: XYZ is excluded from the total</a:t>
            </a:r>
          </a:p>
          <a:p xmlns:a="http://schemas.openxmlformats.org/drawingml/2006/main">
            <a:pPr>
              <a:defRPr sz="2175" b="0">
                <a:solidFill>
                  <a:srgbClr val="19374A"/>
                </a:solidFill>
                <a:latin typeface="Bitstream Charter"/>
                <a:ea typeface="Bitstream Charter"/>
                <a:cs typeface="Bitstream Charter"/>
              </a:defRPr>
            </a:pPr>
            <a:r>
              <a:rPr sz="2175" b="0">
                <a:solidFill>
                  <a:srgbClr val="19374A"/>
                </a:solidFill>
                <a:latin typeface="Bitstream Charter"/>
                <a:ea typeface="Bitstream Charter"/>
                <a:cs typeface="Bitstream Charter"/>
              </a:rPr>
              <a:t>Stale price: BP is 7 days old, above the 3-day maximum</a:t>
            </a:r>
          </a:p>
        </p:txBody>
      </p:sp>
      <p:sp>
        <p:nvSpPr>
          <p:cNvPr id="5" name="">
            <a:extLst xmlns:a="http://schemas.openxmlformats.org/drawingml/2006/main">
              <a:ext uri="{FF2B5EF4-FFF2-40B4-BE49-F238E27FC236}">
                <a16:creationId xmlns:a16="http://schemas.microsoft.com/office/drawing/2014/main" id="{C7F1B459-4881-4311-B90B-311B167CACA9}"/>
              </a:ext>
            </a:extLst>
          </p:cNvPr>
          <p:cNvSpPr>
            <a:spLocks xmlns:a="http://schemas.openxmlformats.org/drawingml/2006/main" noGrp="1"/>
          </p:cNvSpPr>
          <p:nvPr/>
        </p:nvSpPr>
        <p:spPr>
          <a:xfrm xmlns:a="http://schemas.openxmlformats.org/drawingml/2006/main">
            <a:off x="609600" y="36195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777D"/>
                </a:solidFill>
                <a:latin typeface="Bitstream Charter"/>
                <a:ea typeface="Bitstream Charter"/>
                <a:cs typeface="Bitstream Charter"/>
              </a:defRPr>
            </a:pPr>
            <a:r>
              <a:rPr sz="1800" b="1">
                <a:solidFill>
                  <a:srgbClr val="15777D"/>
                </a:solidFill>
                <a:latin typeface="Bitstream Charter"/>
                <a:ea typeface="Bitstream Charter"/>
                <a:cs typeface="Bitstream Charter"/>
              </a:rPr>
              <a:t>Instrument</a:t>
            </a:r>
          </a:p>
        </p:txBody>
      </p:sp>
      <p:sp>
        <p:nvSpPr>
          <p:cNvPr id="6" name="">
            <a:extLst xmlns:a="http://schemas.openxmlformats.org/drawingml/2006/main">
              <a:ext uri="{FF2B5EF4-FFF2-40B4-BE49-F238E27FC236}">
                <a16:creationId xmlns:a16="http://schemas.microsoft.com/office/drawing/2014/main" id="{87D27017-682C-4860-9E77-188F914E8E57}"/>
              </a:ext>
            </a:extLst>
          </p:cNvPr>
          <p:cNvSpPr>
            <a:spLocks xmlns:a="http://schemas.openxmlformats.org/drawingml/2006/main" noGrp="1"/>
          </p:cNvSpPr>
          <p:nvPr/>
        </p:nvSpPr>
        <p:spPr>
          <a:xfrm xmlns:a="http://schemas.openxmlformats.org/drawingml/2006/main">
            <a:off x="4000500" y="36195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777D"/>
                </a:solidFill>
                <a:latin typeface="Bitstream Charter"/>
                <a:ea typeface="Bitstream Charter"/>
                <a:cs typeface="Bitstream Charter"/>
              </a:defRPr>
            </a:pPr>
            <a:r>
              <a:rPr sz="1800" b="1">
                <a:solidFill>
                  <a:srgbClr val="15777D"/>
                </a:solidFill>
                <a:latin typeface="Bitstream Charter"/>
                <a:ea typeface="Bitstream Charter"/>
                <a:cs typeface="Bitstream Charter"/>
              </a:rPr>
              <a:t>Exposure</a:t>
            </a:r>
          </a:p>
        </p:txBody>
      </p:sp>
      <p:sp>
        <p:nvSpPr>
          <p:cNvPr id="7" name="">
            <a:extLst xmlns:a="http://schemas.openxmlformats.org/drawingml/2006/main">
              <a:ext uri="{FF2B5EF4-FFF2-40B4-BE49-F238E27FC236}">
                <a16:creationId xmlns:a16="http://schemas.microsoft.com/office/drawing/2014/main" id="{10C8D495-2EAC-40AD-B28D-E20DFE343689}"/>
              </a:ext>
            </a:extLst>
          </p:cNvPr>
          <p:cNvSpPr>
            <a:spLocks xmlns:a="http://schemas.openxmlformats.org/drawingml/2006/main" noGrp="1"/>
          </p:cNvSpPr>
          <p:nvPr/>
        </p:nvSpPr>
        <p:spPr>
          <a:xfrm xmlns:a="http://schemas.openxmlformats.org/drawingml/2006/main">
            <a:off x="7620000" y="36195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777D"/>
                </a:solidFill>
                <a:latin typeface="Bitstream Charter"/>
                <a:ea typeface="Bitstream Charter"/>
                <a:cs typeface="Bitstream Charter"/>
              </a:defRPr>
            </a:pPr>
            <a:r>
              <a:rPr sz="1800" b="1">
                <a:solidFill>
                  <a:srgbClr val="15777D"/>
                </a:solidFill>
                <a:latin typeface="Bitstream Charter"/>
                <a:ea typeface="Bitstream Charter"/>
                <a:cs typeface="Bitstream Charter"/>
              </a:rPr>
              <a:t>Policy limit</a:t>
            </a:r>
          </a:p>
        </p:txBody>
      </p:sp>
      <p:sp>
        <p:nvSpPr>
          <p:cNvPr id="8" name="">
            <a:extLst xmlns:a="http://schemas.openxmlformats.org/drawingml/2006/main">
              <a:ext uri="{FF2B5EF4-FFF2-40B4-BE49-F238E27FC236}">
                <a16:creationId xmlns:a16="http://schemas.microsoft.com/office/drawing/2014/main" id="{EB3C920D-4B78-4ECB-A54D-8CA04770E77B}"/>
              </a:ext>
            </a:extLst>
          </p:cNvPr>
          <p:cNvSpPr>
            <a:spLocks xmlns:a="http://schemas.openxmlformats.org/drawingml/2006/main" noGrp="1"/>
          </p:cNvSpPr>
          <p:nvPr/>
        </p:nvSpPr>
        <p:spPr>
          <a:xfrm xmlns:a="http://schemas.openxmlformats.org/drawingml/2006/main">
            <a:off x="609600" y="412432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74A"/>
                </a:solidFill>
                <a:latin typeface="Bitstream Charter"/>
                <a:ea typeface="Bitstream Charter"/>
                <a:cs typeface="Bitstream Charter"/>
              </a:defRPr>
            </a:pPr>
            <a:r>
              <a:rPr sz="2400" b="0">
                <a:solidFill>
                  <a:srgbClr val="19374A"/>
                </a:solidFill>
                <a:latin typeface="Bitstream Charter"/>
                <a:ea typeface="Bitstream Charter"/>
                <a:cs typeface="Bitstream Charter"/>
              </a:rPr>
              <a:t>BP</a:t>
            </a:r>
          </a:p>
          <a:p xmlns:a="http://schemas.openxmlformats.org/drawingml/2006/main">
            <a:pPr>
              <a:defRPr sz="2400" b="0">
                <a:solidFill>
                  <a:srgbClr val="19374A"/>
                </a:solidFill>
                <a:latin typeface="Bitstream Charter"/>
                <a:ea typeface="Bitstream Charter"/>
                <a:cs typeface="Bitstream Charter"/>
              </a:defRPr>
            </a:pPr>
            <a:r>
              <a:rPr sz="2400" b="0">
                <a:solidFill>
                  <a:srgbClr val="19374A"/>
                </a:solidFill>
                <a:latin typeface="Bitstream Charter"/>
                <a:ea typeface="Bitstream Charter"/>
                <a:cs typeface="Bitstream Charter"/>
              </a:rPr>
              <a:t>ULVR</a:t>
            </a:r>
          </a:p>
        </p:txBody>
      </p:sp>
      <p:sp>
        <p:nvSpPr>
          <p:cNvPr id="9" name="">
            <a:extLst xmlns:a="http://schemas.openxmlformats.org/drawingml/2006/main">
              <a:ext uri="{FF2B5EF4-FFF2-40B4-BE49-F238E27FC236}">
                <a16:creationId xmlns:a16="http://schemas.microsoft.com/office/drawing/2014/main" id="{1104F656-AAC5-4648-87AE-5DF95098433B}"/>
              </a:ext>
            </a:extLst>
          </p:cNvPr>
          <p:cNvSpPr>
            <a:spLocks xmlns:a="http://schemas.openxmlformats.org/drawingml/2006/main" noGrp="1"/>
          </p:cNvSpPr>
          <p:nvPr/>
        </p:nvSpPr>
        <p:spPr>
          <a:xfrm xmlns:a="http://schemas.openxmlformats.org/drawingml/2006/main">
            <a:off x="4000500" y="412432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74A"/>
                </a:solidFill>
                <a:latin typeface="Bitstream Charter"/>
                <a:ea typeface="Bitstream Charter"/>
                <a:cs typeface="Bitstream Charter"/>
              </a:defRPr>
            </a:pPr>
            <a:r>
              <a:rPr sz="2400" b="0">
                <a:solidFill>
                  <a:srgbClr val="19374A"/>
                </a:solidFill>
                <a:latin typeface="Bitstream Charter"/>
                <a:ea typeface="Bitstream Charter"/>
                <a:cs typeface="Bitstream Charter"/>
              </a:rPr>
              <a:t>47.0588%</a:t>
            </a:r>
          </a:p>
          <a:p xmlns:a="http://schemas.openxmlformats.org/drawingml/2006/main">
            <a:pPr>
              <a:defRPr sz="2400" b="0">
                <a:solidFill>
                  <a:srgbClr val="19374A"/>
                </a:solidFill>
                <a:latin typeface="Bitstream Charter"/>
                <a:ea typeface="Bitstream Charter"/>
                <a:cs typeface="Bitstream Charter"/>
              </a:defRPr>
            </a:pPr>
            <a:r>
              <a:rPr sz="2400" b="0">
                <a:solidFill>
                  <a:srgbClr val="19374A"/>
                </a:solidFill>
                <a:latin typeface="Bitstream Charter"/>
                <a:ea typeface="Bitstream Charter"/>
                <a:cs typeface="Bitstream Charter"/>
              </a:rPr>
              <a:t>52.9412%</a:t>
            </a:r>
          </a:p>
        </p:txBody>
      </p:sp>
      <p:sp>
        <p:nvSpPr>
          <p:cNvPr id="10" name="">
            <a:extLst xmlns:a="http://schemas.openxmlformats.org/drawingml/2006/main">
              <a:ext uri="{FF2B5EF4-FFF2-40B4-BE49-F238E27FC236}">
                <a16:creationId xmlns:a16="http://schemas.microsoft.com/office/drawing/2014/main" id="{2A24AF00-17D6-4516-A83F-69CD153CF34C}"/>
              </a:ext>
            </a:extLst>
          </p:cNvPr>
          <p:cNvSpPr>
            <a:spLocks xmlns:a="http://schemas.openxmlformats.org/drawingml/2006/main" noGrp="1"/>
          </p:cNvSpPr>
          <p:nvPr/>
        </p:nvSpPr>
        <p:spPr>
          <a:xfrm xmlns:a="http://schemas.openxmlformats.org/drawingml/2006/main">
            <a:off x="7620000" y="412432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9374A"/>
                </a:solidFill>
                <a:latin typeface="Bitstream Charter"/>
                <a:ea typeface="Bitstream Charter"/>
                <a:cs typeface="Bitstream Charter"/>
              </a:defRPr>
            </a:pPr>
            <a:r>
              <a:rPr sz="2400" b="0">
                <a:solidFill>
                  <a:srgbClr val="19374A"/>
                </a:solidFill>
                <a:latin typeface="Bitstream Charter"/>
                <a:ea typeface="Bitstream Charter"/>
                <a:cs typeface="Bitstream Charter"/>
              </a:rPr>
              <a:t>25%</a:t>
            </a:r>
          </a:p>
          <a:p xmlns:a="http://schemas.openxmlformats.org/drawingml/2006/main">
            <a:pPr>
              <a:defRPr sz="2400" b="0">
                <a:solidFill>
                  <a:srgbClr val="19374A"/>
                </a:solidFill>
                <a:latin typeface="Bitstream Charter"/>
                <a:ea typeface="Bitstream Charter"/>
                <a:cs typeface="Bitstream Charter"/>
              </a:defRPr>
            </a:pPr>
            <a:r>
              <a:rPr sz="2400" b="0">
                <a:solidFill>
                  <a:srgbClr val="19374A"/>
                </a:solidFill>
                <a:latin typeface="Bitstream Charter"/>
                <a:ea typeface="Bitstream Charter"/>
                <a:cs typeface="Bitstream Charter"/>
              </a:rPr>
              <a:t>25%</a:t>
            </a:r>
          </a:p>
        </p:txBody>
      </p:sp>
      <p:sp>
        <p:nvSpPr>
          <p:cNvPr id="11" name="">
            <a:extLst xmlns:a="http://schemas.openxmlformats.org/drawingml/2006/main">
              <a:ext uri="{FF2B5EF4-FFF2-40B4-BE49-F238E27FC236}">
                <a16:creationId xmlns:a16="http://schemas.microsoft.com/office/drawing/2014/main" id="{69689642-2073-4DF9-8069-400571D2D0A1}"/>
              </a:ext>
            </a:extLst>
          </p:cNvPr>
          <p:cNvSpPr>
            <a:spLocks xmlns:a="http://schemas.openxmlformats.org/drawingml/2006/main" noGrp="1"/>
          </p:cNvSpPr>
          <p:nvPr/>
        </p:nvSpPr>
        <p:spPr>
          <a:xfrm xmlns:a="http://schemas.openxmlformats.org/drawingml/2006/main">
            <a:off x="609600" y="55054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74A"/>
                </a:solidFill>
                <a:latin typeface="Bitstream Charter"/>
                <a:ea typeface="Bitstream Charter"/>
                <a:cs typeface="Bitstream Charter"/>
              </a:defRPr>
            </a:pPr>
            <a:r>
              <a:rPr sz="1875" b="0">
                <a:solidFill>
                  <a:srgbClr val="19374A"/>
                </a:solidFill>
                <a:latin typeface="Bitstream Charter"/>
                <a:ea typeface="Bitstream Charter"/>
                <a:cs typeface="Bitstream Charter"/>
              </a:rPr>
              <a:t>Energy: 47.0588%     Consumer Staples: 52.9412%</a:t>
            </a:r>
          </a:p>
          <a:p xmlns:a="http://schemas.openxmlformats.org/drawingml/2006/main">
            <a:pPr>
              <a:defRPr sz="1875" b="0">
                <a:solidFill>
                  <a:srgbClr val="19374A"/>
                </a:solidFill>
                <a:latin typeface="Bitstream Charter"/>
                <a:ea typeface="Bitstream Charter"/>
                <a:cs typeface="Bitstream Charter"/>
              </a:defRPr>
            </a:pPr>
            <a:r>
              <a:rPr sz="1875" b="0">
                <a:solidFill>
                  <a:srgbClr val="19374A"/>
                </a:solidFill>
                <a:latin typeface="Bitstream Charter"/>
                <a:ea typeface="Bitstream Charter"/>
                <a:cs typeface="Bitstream Charter"/>
              </a:rPr>
              <a:t>Both exceed the 40% sector limit. All breaches are provisional.</a:t>
            </a:r>
          </a:p>
        </p:txBody>
      </p:sp>
    </p:spTree>
    <p:extLst>
      <p:ext uri="{BB962C8B-B14F-4D97-AF65-F5344CB8AC3E}">
        <p14:creationId xmlns:p14="http://schemas.microsoft.com/office/powerpoint/2010/main" val="819202631"/>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E94BB9-167B-4EFF-97BF-4E55CD99261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348"/>
                </a:solidFill>
                <a:latin typeface="Bitstream Charter"/>
                <a:ea typeface="Bitstream Charter"/>
                <a:cs typeface="Bitstream Charter"/>
              </a:defRPr>
            </a:pPr>
            <a:r>
              <a:rPr sz="3450" b="1">
                <a:solidFill>
                  <a:srgbClr val="123348"/>
                </a:solidFill>
                <a:latin typeface="Bitstream Charter"/>
                <a:ea typeface="Bitstream Charter"/>
                <a:cs typeface="Bitstream Charter"/>
              </a:rPr>
              <a:t>Tool calling and failure handling</a:t>
            </a:r>
          </a:p>
        </p:txBody>
      </p:sp>
      <p:sp>
        <p:nvSpPr>
          <p:cNvPr id="2" name="">
            <a:extLst xmlns:a="http://schemas.openxmlformats.org/drawingml/2006/main">
              <a:ext uri="{FF2B5EF4-FFF2-40B4-BE49-F238E27FC236}">
                <a16:creationId xmlns:a16="http://schemas.microsoft.com/office/drawing/2014/main" id="{11D3CF39-8A22-46E6-94CD-FDF207635696}"/>
              </a:ext>
            </a:extLst>
          </p:cNvPr>
          <p:cNvSpPr>
            <a:spLocks xmlns:a="http://schemas.openxmlformats.org/drawingml/2006/main" noGrp="1"/>
          </p:cNvSpPr>
          <p:nvPr/>
        </p:nvSpPr>
        <p:spPr>
          <a:xfrm xmlns:a="http://schemas.openxmlformats.org/drawingml/2006/main">
            <a:off x="609600" y="14382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76270"/>
                </a:solidFill>
                <a:latin typeface="Bitstream Charter"/>
                <a:ea typeface="Bitstream Charter"/>
                <a:cs typeface="Bitstream Charter"/>
              </a:defRPr>
            </a:pPr>
            <a:r>
              <a:rPr sz="1875" b="0">
                <a:solidFill>
                  <a:srgbClr val="476270"/>
                </a:solidFill>
                <a:latin typeface="Bitstream Charter"/>
                <a:ea typeface="Bitstream Charter"/>
                <a:cs typeface="Bitstream Charter"/>
              </a:rPr>
              <a:t>Real API runs covered both P2 and unavailable P9</a:t>
            </a:r>
          </a:p>
        </p:txBody>
      </p:sp>
      <p:sp>
        <p:nvSpPr>
          <p:cNvPr id="3" name="">
            <a:extLst xmlns:a="http://schemas.openxmlformats.org/drawingml/2006/main">
              <a:ext uri="{FF2B5EF4-FFF2-40B4-BE49-F238E27FC236}">
                <a16:creationId xmlns:a16="http://schemas.microsoft.com/office/drawing/2014/main" id="{713E3C1A-E192-4703-8C08-953A3D932102}"/>
              </a:ext>
            </a:extLst>
          </p:cNvPr>
          <p:cNvSpPr>
            <a:spLocks xmlns:a="http://schemas.openxmlformats.org/drawingml/2006/main" noGrp="1"/>
          </p:cNvSpPr>
          <p:nvPr/>
        </p:nvSpPr>
        <p:spPr>
          <a:xfrm xmlns:a="http://schemas.openxmlformats.org/drawingml/2006/main">
            <a:off x="11239500" y="626745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76270"/>
                </a:solidFill>
                <a:latin typeface="Bitstream Charter"/>
                <a:ea typeface="Bitstream Charter"/>
                <a:cs typeface="Bitstream Charter"/>
              </a:defRPr>
            </a:pPr>
            <a:r>
              <a:rPr sz="1350" b="0">
                <a:solidFill>
                  <a:srgbClr val="476270"/>
                </a:solidFill>
                <a:latin typeface="Bitstream Charter"/>
                <a:ea typeface="Bitstream Charter"/>
                <a:cs typeface="Bitstream Charter"/>
              </a:rPr>
              <a:t>4</a:t>
            </a:r>
          </a:p>
        </p:txBody>
      </p:sp>
      <p:sp>
        <p:nvSpPr>
          <p:cNvPr id="4" name="">
            <a:extLst xmlns:a="http://schemas.openxmlformats.org/drawingml/2006/main">
              <a:ext uri="{FF2B5EF4-FFF2-40B4-BE49-F238E27FC236}">
                <a16:creationId xmlns:a16="http://schemas.microsoft.com/office/drawing/2014/main" id="{6B11F2DB-D467-4F5E-96D8-1E8074BD37CB}"/>
              </a:ext>
            </a:extLst>
          </p:cNvPr>
          <p:cNvSpPr>
            <a:spLocks xmlns:a="http://schemas.openxmlformats.org/drawingml/2006/main" noGrp="1"/>
          </p:cNvSpPr>
          <p:nvPr/>
        </p:nvSpPr>
        <p:spPr>
          <a:xfrm xmlns:a="http://schemas.openxmlformats.org/drawingml/2006/main">
            <a:off x="609600" y="23526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5777D"/>
                </a:solidFill>
                <a:latin typeface="Bitstream Charter"/>
                <a:ea typeface="Bitstream Charter"/>
                <a:cs typeface="Bitstream Charter"/>
              </a:defRPr>
            </a:pPr>
            <a:r>
              <a:rPr sz="2325" b="1">
                <a:solidFill>
                  <a:srgbClr val="15777D"/>
                </a:solidFill>
                <a:latin typeface="Bitstream Charter"/>
                <a:ea typeface="Bitstream Charter"/>
                <a:cs typeface="Bitstream Charter"/>
              </a:rPr>
              <a:t>P2: successful tool requests</a:t>
            </a:r>
          </a:p>
        </p:txBody>
      </p:sp>
      <p:sp>
        <p:nvSpPr>
          <p:cNvPr id="5" name="">
            <a:extLst xmlns:a="http://schemas.openxmlformats.org/drawingml/2006/main">
              <a:ext uri="{FF2B5EF4-FFF2-40B4-BE49-F238E27FC236}">
                <a16:creationId xmlns:a16="http://schemas.microsoft.com/office/drawing/2014/main" id="{0D269A88-09B5-4F44-82E8-7F3DAA1212FF}"/>
              </a:ext>
            </a:extLst>
          </p:cNvPr>
          <p:cNvSpPr>
            <a:spLocks xmlns:a="http://schemas.openxmlformats.org/drawingml/2006/main" noGrp="1"/>
          </p:cNvSpPr>
          <p:nvPr/>
        </p:nvSpPr>
        <p:spPr>
          <a:xfrm xmlns:a="http://schemas.openxmlformats.org/drawingml/2006/main">
            <a:off x="609600" y="2971800"/>
            <a:ext cx="1062037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get_portfolio_report({"portfolio_id":"P2"})</a:t>
            </a:r>
          </a:p>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get_policy({})</a:t>
            </a:r>
          </a:p>
          <a:p xmlns:a="http://schemas.openxmlformats.org/drawingml/2006/main">
            <a:r>
              <a:t/>
            </a:r>
          </a:p>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C# returns facts with matching tool-call IDs.</a:t>
            </a:r>
          </a:p>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Claude explains the returned results.</a:t>
            </a:r>
          </a:p>
        </p:txBody>
      </p:sp>
      <p:sp>
        <p:nvSpPr>
          <p:cNvPr id="6" name="">
            <a:extLst xmlns:a="http://schemas.openxmlformats.org/drawingml/2006/main">
              <a:ext uri="{FF2B5EF4-FFF2-40B4-BE49-F238E27FC236}">
                <a16:creationId xmlns:a16="http://schemas.microsoft.com/office/drawing/2014/main" id="{B5E8E79A-6F6B-4516-B077-351834E7EAD4}"/>
              </a:ext>
            </a:extLst>
          </p:cNvPr>
          <p:cNvSpPr>
            <a:spLocks xmlns:a="http://schemas.openxmlformats.org/drawingml/2006/main" noGrp="1"/>
          </p:cNvSpPr>
          <p:nvPr/>
        </p:nvSpPr>
        <p:spPr>
          <a:xfrm xmlns:a="http://schemas.openxmlformats.org/drawingml/2006/main">
            <a:off x="609600" y="5124450"/>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5777D"/>
                </a:solidFill>
                <a:latin typeface="Bitstream Charter"/>
                <a:ea typeface="Bitstream Charter"/>
                <a:cs typeface="Bitstream Charter"/>
              </a:defRPr>
            </a:pPr>
            <a:r>
              <a:rPr sz="2325" b="1">
                <a:solidFill>
                  <a:srgbClr val="15777D"/>
                </a:solidFill>
                <a:latin typeface="Bitstream Charter"/>
                <a:ea typeface="Bitstream Charter"/>
                <a:cs typeface="Bitstream Charter"/>
              </a:rPr>
              <a:t>P9: structured error, honest answer</a:t>
            </a:r>
          </a:p>
        </p:txBody>
      </p:sp>
      <p:sp>
        <p:nvSpPr>
          <p:cNvPr id="7" name="">
            <a:extLst xmlns:a="http://schemas.openxmlformats.org/drawingml/2006/main">
              <a:ext uri="{FF2B5EF4-FFF2-40B4-BE49-F238E27FC236}">
                <a16:creationId xmlns:a16="http://schemas.microsoft.com/office/drawing/2014/main" id="{CAB5F00B-74DF-459B-967F-606B949C837D}"/>
              </a:ext>
            </a:extLst>
          </p:cNvPr>
          <p:cNvSpPr>
            <a:spLocks xmlns:a="http://schemas.openxmlformats.org/drawingml/2006/main" noGrp="1"/>
          </p:cNvSpPr>
          <p:nvPr/>
        </p:nvSpPr>
        <p:spPr>
          <a:xfrm xmlns:a="http://schemas.openxmlformats.org/drawingml/2006/main">
            <a:off x="609600" y="56769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374A"/>
                </a:solidFill>
                <a:latin typeface="Bitstream Charter"/>
                <a:ea typeface="Bitstream Charter"/>
                <a:cs typeface="Bitstream Charter"/>
              </a:defRPr>
            </a:pPr>
            <a:r>
              <a:rPr sz="1950" b="0">
                <a:solidFill>
                  <a:srgbClr val="19374A"/>
                </a:solidFill>
                <a:latin typeface="Bitstream Charter"/>
                <a:ea typeface="Bitstream Charter"/>
                <a:cs typeface="Bitstream Charter"/>
              </a:rPr>
              <a:t>The tool reports that P9 is unavailable.</a:t>
            </a:r>
          </a:p>
          <a:p xmlns:a="http://schemas.openxmlformats.org/drawingml/2006/main">
            <a:pPr>
              <a:defRPr sz="1950" b="0">
                <a:solidFill>
                  <a:srgbClr val="19374A"/>
                </a:solidFill>
                <a:latin typeface="Bitstream Charter"/>
                <a:ea typeface="Bitstream Charter"/>
                <a:cs typeface="Bitstream Charter"/>
              </a:defRPr>
            </a:pPr>
            <a:r>
              <a:rPr sz="1950" b="0">
                <a:solidFill>
                  <a:srgbClr val="19374A"/>
                </a:solidFill>
                <a:latin typeface="Bitstream Charter"/>
                <a:ea typeface="Bitstream Charter"/>
                <a:cs typeface="Bitstream Charter"/>
              </a:rPr>
              <a:t>Claude states the limitation. report.json remains available.</a:t>
            </a:r>
          </a:p>
        </p:txBody>
      </p:sp>
    </p:spTree>
    <p:extLst>
      <p:ext uri="{BB962C8B-B14F-4D97-AF65-F5344CB8AC3E}">
        <p14:creationId xmlns:p14="http://schemas.microsoft.com/office/powerpoint/2010/main" val="166705487"/>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72C21C-8391-43F2-98D3-4A5AC69CDCE4}"/>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348"/>
                </a:solidFill>
                <a:latin typeface="Bitstream Charter"/>
                <a:ea typeface="Bitstream Charter"/>
                <a:cs typeface="Bitstream Charter"/>
              </a:defRPr>
            </a:pPr>
            <a:r>
              <a:rPr sz="3450" b="1">
                <a:solidFill>
                  <a:srgbClr val="123348"/>
                </a:solidFill>
                <a:latin typeface="Bitstream Charter"/>
                <a:ea typeface="Bitstream Charter"/>
                <a:cs typeface="Bitstream Charter"/>
              </a:rPr>
              <a:t>Validation and tradeoffs</a:t>
            </a:r>
          </a:p>
        </p:txBody>
      </p:sp>
      <p:sp>
        <p:nvSpPr>
          <p:cNvPr id="2" name="">
            <a:extLst xmlns:a="http://schemas.openxmlformats.org/drawingml/2006/main">
              <a:ext uri="{FF2B5EF4-FFF2-40B4-BE49-F238E27FC236}">
                <a16:creationId xmlns:a16="http://schemas.microsoft.com/office/drawing/2014/main" id="{50DC6BB5-A6B4-47F7-B0BC-2FCCE93CEF11}"/>
              </a:ext>
            </a:extLst>
          </p:cNvPr>
          <p:cNvSpPr>
            <a:spLocks xmlns:a="http://schemas.openxmlformats.org/drawingml/2006/main" noGrp="1"/>
          </p:cNvSpPr>
          <p:nvPr/>
        </p:nvSpPr>
        <p:spPr>
          <a:xfrm xmlns:a="http://schemas.openxmlformats.org/drawingml/2006/main">
            <a:off x="609600" y="14382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76270"/>
                </a:solidFill>
                <a:latin typeface="Bitstream Charter"/>
                <a:ea typeface="Bitstream Charter"/>
                <a:cs typeface="Bitstream Charter"/>
              </a:defRPr>
            </a:pPr>
            <a:r>
              <a:rPr sz="1875" b="0">
                <a:solidFill>
                  <a:srgbClr val="476270"/>
                </a:solidFill>
                <a:latin typeface="Bitstream Charter"/>
                <a:ea typeface="Bitstream Charter"/>
                <a:cs typeface="Bitstream Charter"/>
              </a:rPr>
              <a:t>A small prototype with explicit limits</a:t>
            </a:r>
          </a:p>
        </p:txBody>
      </p:sp>
      <p:sp>
        <p:nvSpPr>
          <p:cNvPr id="3" name="">
            <a:extLst xmlns:a="http://schemas.openxmlformats.org/drawingml/2006/main">
              <a:ext uri="{FF2B5EF4-FFF2-40B4-BE49-F238E27FC236}">
                <a16:creationId xmlns:a16="http://schemas.microsoft.com/office/drawing/2014/main" id="{D7BE2E40-7834-4877-B4F4-D7530D476212}"/>
              </a:ext>
            </a:extLst>
          </p:cNvPr>
          <p:cNvSpPr>
            <a:spLocks xmlns:a="http://schemas.openxmlformats.org/drawingml/2006/main" noGrp="1"/>
          </p:cNvSpPr>
          <p:nvPr/>
        </p:nvSpPr>
        <p:spPr>
          <a:xfrm xmlns:a="http://schemas.openxmlformats.org/drawingml/2006/main">
            <a:off x="11239500" y="626745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76270"/>
                </a:solidFill>
                <a:latin typeface="Bitstream Charter"/>
                <a:ea typeface="Bitstream Charter"/>
                <a:cs typeface="Bitstream Charter"/>
              </a:defRPr>
            </a:pPr>
            <a:r>
              <a:rPr sz="1350" b="0">
                <a:solidFill>
                  <a:srgbClr val="476270"/>
                </a:solidFill>
                <a:latin typeface="Bitstream Charter"/>
                <a:ea typeface="Bitstream Charter"/>
                <a:cs typeface="Bitstream Charter"/>
              </a:rPr>
              <a:t>5</a:t>
            </a:r>
          </a:p>
        </p:txBody>
      </p:sp>
      <p:sp>
        <p:nvSpPr>
          <p:cNvPr id="4" name="">
            <a:extLst xmlns:a="http://schemas.openxmlformats.org/drawingml/2006/main">
              <a:ext uri="{FF2B5EF4-FFF2-40B4-BE49-F238E27FC236}">
                <a16:creationId xmlns:a16="http://schemas.microsoft.com/office/drawing/2014/main" id="{D13C89C7-54BE-44C6-88BE-1978318233FE}"/>
              </a:ext>
            </a:extLst>
          </p:cNvPr>
          <p:cNvSpPr>
            <a:spLocks xmlns:a="http://schemas.openxmlformats.org/drawingml/2006/main" noGrp="1"/>
          </p:cNvSpPr>
          <p:nvPr/>
        </p:nvSpPr>
        <p:spPr>
          <a:xfrm xmlns:a="http://schemas.openxmlformats.org/drawingml/2006/main">
            <a:off x="609600" y="23431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777D"/>
                </a:solidFill>
                <a:latin typeface="Bitstream Charter"/>
                <a:ea typeface="Bitstream Charter"/>
                <a:cs typeface="Bitstream Charter"/>
              </a:defRPr>
            </a:pPr>
            <a:r>
              <a:rPr sz="2250" b="1">
                <a:solidFill>
                  <a:srgbClr val="15777D"/>
                </a:solidFill>
                <a:latin typeface="Bitstream Charter"/>
                <a:ea typeface="Bitstream Charter"/>
                <a:cs typeface="Bitstream Charter"/>
              </a:rPr>
              <a:t>Evidence</a:t>
            </a:r>
          </a:p>
        </p:txBody>
      </p:sp>
      <p:sp>
        <p:nvSpPr>
          <p:cNvPr id="5" name="">
            <a:extLst xmlns:a="http://schemas.openxmlformats.org/drawingml/2006/main">
              <a:ext uri="{FF2B5EF4-FFF2-40B4-BE49-F238E27FC236}">
                <a16:creationId xmlns:a16="http://schemas.microsoft.com/office/drawing/2014/main" id="{2AD1D86F-341B-4365-B369-779C843AE354}"/>
              </a:ext>
            </a:extLst>
          </p:cNvPr>
          <p:cNvSpPr>
            <a:spLocks xmlns:a="http://schemas.openxmlformats.org/drawingml/2006/main" noGrp="1"/>
          </p:cNvSpPr>
          <p:nvPr/>
        </p:nvSpPr>
        <p:spPr>
          <a:xfrm xmlns:a="http://schemas.openxmlformats.org/drawingml/2006/main">
            <a:off x="609600" y="2943225"/>
            <a:ext cx="51911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19 offline tests reported passing</a:t>
            </a:r>
          </a:p>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Real P2 success and P9 error runs</a:t>
            </a:r>
          </a:p>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Decimal values and unrounded limit checks</a:t>
            </a:r>
          </a:p>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5 model calls and a 60-second agent limit</a:t>
            </a:r>
          </a:p>
        </p:txBody>
      </p:sp>
      <p:sp>
        <p:nvSpPr>
          <p:cNvPr id="6" name="">
            <a:extLst xmlns:a="http://schemas.openxmlformats.org/drawingml/2006/main">
              <a:ext uri="{FF2B5EF4-FFF2-40B4-BE49-F238E27FC236}">
                <a16:creationId xmlns:a16="http://schemas.microsoft.com/office/drawing/2014/main" id="{4DE4EBD5-0123-4A4F-BC05-923F593B38ED}"/>
              </a:ext>
            </a:extLst>
          </p:cNvPr>
          <p:cNvSpPr>
            <a:spLocks xmlns:a="http://schemas.openxmlformats.org/drawingml/2006/main" noGrp="1"/>
          </p:cNvSpPr>
          <p:nvPr/>
        </p:nvSpPr>
        <p:spPr>
          <a:xfrm xmlns:a="http://schemas.openxmlformats.org/drawingml/2006/main">
            <a:off x="6572250" y="23431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777D"/>
                </a:solidFill>
                <a:latin typeface="Bitstream Charter"/>
                <a:ea typeface="Bitstream Charter"/>
                <a:cs typeface="Bitstream Charter"/>
              </a:defRPr>
            </a:pPr>
            <a:r>
              <a:rPr sz="2250" b="1">
                <a:solidFill>
                  <a:srgbClr val="15777D"/>
                </a:solidFill>
                <a:latin typeface="Bitstream Charter"/>
                <a:ea typeface="Bitstream Charter"/>
                <a:cs typeface="Bitstream Charter"/>
              </a:rPr>
              <a:t>Current limitations</a:t>
            </a:r>
          </a:p>
        </p:txBody>
      </p:sp>
      <p:sp>
        <p:nvSpPr>
          <p:cNvPr id="7" name="">
            <a:extLst xmlns:a="http://schemas.openxmlformats.org/drawingml/2006/main">
              <a:ext uri="{FF2B5EF4-FFF2-40B4-BE49-F238E27FC236}">
                <a16:creationId xmlns:a16="http://schemas.microsoft.com/office/drawing/2014/main" id="{73BA91D2-DF82-43A9-A8D3-AE617429C9A3}"/>
              </a:ext>
            </a:extLst>
          </p:cNvPr>
          <p:cNvSpPr>
            <a:spLocks xmlns:a="http://schemas.openxmlformats.org/drawingml/2006/main" noGrp="1"/>
          </p:cNvSpPr>
          <p:nvPr/>
        </p:nvSpPr>
        <p:spPr>
          <a:xfrm xmlns:a="http://schemas.openxmlformats.org/drawingml/2006/main">
            <a:off x="6572250" y="2943225"/>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Simple CSV parser has limited quoting support</a:t>
            </a:r>
          </a:p>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Missing prices make exposures provisional</a:t>
            </a:r>
          </a:p>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Stale prices remain in the valuation</a:t>
            </a:r>
          </a:p>
          <a:p xmlns:a="http://schemas.openxmlformats.org/drawingml/2006/main">
            <a:pPr>
              <a:defRPr sz="2025" b="0">
                <a:solidFill>
                  <a:srgbClr val="19374A"/>
                </a:solidFill>
                <a:latin typeface="Bitstream Charter"/>
                <a:ea typeface="Bitstream Charter"/>
                <a:cs typeface="Bitstream Charter"/>
              </a:defRPr>
            </a:pPr>
            <a:r>
              <a:rPr sz="2025" b="0">
                <a:solidFill>
                  <a:srgbClr val="19374A"/>
                </a:solidFill>
                <a:latin typeface="Bitstream Charter"/>
                <a:ea typeface="Bitstream Charter"/>
                <a:cs typeface="Bitstream Charter"/>
              </a:rPr>
              <a:t>AI wording still needs quality checks</a:t>
            </a:r>
          </a:p>
        </p:txBody>
      </p:sp>
      <p:sp>
        <p:nvSpPr>
          <p:cNvPr id="8" name="">
            <a:extLst xmlns:a="http://schemas.openxmlformats.org/drawingml/2006/main">
              <a:ext uri="{FF2B5EF4-FFF2-40B4-BE49-F238E27FC236}">
                <a16:creationId xmlns:a16="http://schemas.microsoft.com/office/drawing/2014/main" id="{EFA0BA33-BC5F-48BB-8B40-E42E9AB4F169}"/>
              </a:ext>
            </a:extLst>
          </p:cNvPr>
          <p:cNvSpPr>
            <a:spLocks xmlns:a="http://schemas.openxmlformats.org/drawingml/2006/main" noGrp="1"/>
          </p:cNvSpPr>
          <p:nvPr/>
        </p:nvSpPr>
        <p:spPr>
          <a:xfrm xmlns:a="http://schemas.openxmlformats.org/drawingml/2006/main">
            <a:off x="609600" y="5600700"/>
            <a:ext cx="1090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9374A"/>
                </a:solidFill>
                <a:latin typeface="Bitstream Charter"/>
                <a:ea typeface="Bitstream Charter"/>
                <a:cs typeface="Bitstream Charter"/>
              </a:defRPr>
            </a:pPr>
            <a:r>
              <a:rPr sz="2025" b="1">
                <a:solidFill>
                  <a:srgbClr val="19374A"/>
                </a:solidFill>
                <a:latin typeface="Bitstream Charter"/>
                <a:ea typeface="Bitstream Charter"/>
                <a:cs typeface="Bitstream Charter"/>
              </a:rPr>
              <a:t>Next improvements: standard CSV parsing and automated explanation evaluation</a:t>
            </a:r>
          </a:p>
        </p:txBody>
      </p:sp>
    </p:spTree>
    <p:extLst>
      <p:ext uri="{BB962C8B-B14F-4D97-AF65-F5344CB8AC3E}">
        <p14:creationId xmlns:p14="http://schemas.microsoft.com/office/powerpoint/2010/main" val="1409868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2026-10-07T14:01:30.6380000Z</dcterms:created>
  <dcterms:modified xsi:type="dcterms:W3CDTF">2026-10-07T14:01:30.6390000Z</dcterms:modified>
</coreProperties>
</file>